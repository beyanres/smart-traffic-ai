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48556" y="548640"/>
            <a:ext cx="3291840" cy="3291840"/>
          </a:xfrm>
          <a:prstGeom prst="rect">
            <a:avLst/>
          </a:prstGeom>
          <a:solidFill>
            <a:srgbClr val="0F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2D3EE"/>
                </a:solidFill>
              </a:rPr>
              <a:t>🚦 Smart Traffic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DD3FC"/>
                </a:solidFill>
              </a:rPr>
              <a:t>Deadlock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تقاطع طرق ذكي لمنع Gridlock باستخدام Traffic Lights + Prioritization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383280"/>
            <a:ext cx="48463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35204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</a:rPr>
              <a:t>بيان رسلان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9319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المعهد التقني للحاسوب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42062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جامعة ماري الخاصة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480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D3EE"/>
                </a:solidFill>
              </a:rPr>
              <a:t>نظم التشغيل 2 العملي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6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8368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بيان رسلان · المعهد التقني للحاسوب · جامعة ماري الخاصة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914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22D3EE"/>
                </a:solidFill>
              </a:rPr>
              <a:t>📋 نظرة عامة على المشروع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55778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612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2D3EE"/>
                </a:solidFill>
              </a:rPr>
              <a:t>🚗 المشروع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محاكاة تقاطع طرق ذكي يوضح كيفية
منع Gridlock باستخدام نظام إشارات
مرورية متزامن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1928" y="1051560"/>
            <a:ext cx="55778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1612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F4444"/>
                </a:solidFill>
              </a:rPr>
              <a:t>💥 المشكلة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5087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Gridlock = حالة يتوقف فيها جميع المرور
لأن كل سيارة تنتظر سيارة أخرى في
تقاطع مزدحم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20440"/>
            <a:ext cx="55778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6301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0B981"/>
                </a:solidFill>
              </a:rPr>
              <a:t>✅ الحل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77639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Traffic Lights تسمح لاتجاهين متقابلين
فقط بالمرور في نفس الوقت
→ لا Circular Wait!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1928" y="3520440"/>
            <a:ext cx="5577840" cy="2240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6301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59E0B"/>
                </a:solidFill>
              </a:rPr>
              <a:t>🔗 الربط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977639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نفس المشكلة في نظم التشغيل!
Processes تتنافس على Resources
مشتركة = Deadlock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6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8368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بيان رسلان · المعهد التقني للحاسوب · جامعة ماري الخاصة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" y="914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EF4444"/>
                </a:solidFill>
              </a:rPr>
              <a:t>❌  المشكلة: Gridlock بدون Prevention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5029200" cy="4663440"/>
          </a:xfrm>
          <a:prstGeom prst="rect">
            <a:avLst/>
          </a:prstGeom>
          <a:solidFill>
            <a:srgbClr val="2A0F0F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F4444"/>
                </a:solidFill>
              </a:rPr>
              <a:t>⚠️ ماذا يحدث؟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• 4 سيارات تدخل التقاطع في نفس الوقت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• N1 تحجز S1، S1 تحجز N1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• E1 تحجز W1، W1 تحجز E1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3464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• لا أحد يقدر يتحرك!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• النتيجة: تصادم! 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749039"/>
            <a:ext cx="3017520" cy="1463040"/>
          </a:xfrm>
          <a:prstGeom prst="rect">
            <a:avLst/>
          </a:prstGeom>
          <a:solidFill>
            <a:srgbClr val="3A0F0F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7947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/>
              <a:t>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617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F4444"/>
                </a:solidFill>
              </a:rPr>
              <a:t>Gridlock = Deadlock!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051560"/>
            <a:ext cx="6035040" cy="256032"/>
          </a:xfrm>
          <a:prstGeom prst="rect">
            <a:avLst/>
          </a:prstGeom>
          <a:solidFill>
            <a:srgbClr val="161B22"/>
          </a:solidFill>
          <a:ln w="381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59" y="1088136"/>
            <a:ext cx="58521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❌ الكود الخاطئ: No Prevention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307592"/>
            <a:ext cx="6035040" cy="3218687"/>
          </a:xfrm>
          <a:prstGeom prst="rect">
            <a:avLst/>
          </a:prstGeom>
          <a:solidFill>
            <a:srgbClr val="0D1117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0448" y="1344168"/>
            <a:ext cx="5815583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// ❌ No Prevention
// جميع الإشارات خضراء!
tls[0].background='#10b981';//North GREEN
tls[1].background='#10b981';//South GREEN
tls[2].background='#10b981';//East  GREEN
tls[3].background='#10b981';//West  GREEN
// النتيجة: كل السيارات في المنتصف!
// Gridlock! Deadlock!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4754880"/>
            <a:ext cx="6035040" cy="685800"/>
          </a:xfrm>
          <a:prstGeom prst="rect">
            <a:avLst/>
          </a:prstGeom>
          <a:solidFill>
            <a:srgbClr val="2A0F0F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4846320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444"/>
                </a:solidFill>
              </a:rPr>
              <a:t>الأربعة شروط Coffman متحققة = Deadlock محتم!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6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8368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بيان رسلان · المعهد التقني للحاسوب · جامعة ماري الخاصة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" y="914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59E0B"/>
                </a:solidFill>
              </a:rPr>
              <a:t>⚠️  شروط Coffman الأربعة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96112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</a:rPr>
              <a:t>Deadlock يحتاج 4 شروط — إذا تحققت جميعها → Deadlock محتم!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577840" cy="1920240"/>
          </a:xfrm>
          <a:prstGeom prst="rect">
            <a:avLst/>
          </a:prstGeom>
          <a:solidFill>
            <a:srgbClr val="1E293B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2D3EE"/>
                </a:solidFill>
              </a:rPr>
              <a:t>1. Mutual Exclusion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246888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🚦 الطريق للسيارة الواحدة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920240"/>
            <a:ext cx="246888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9202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⚙️ المورد لـ Process واحد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1417320"/>
            <a:ext cx="5577840" cy="1920240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9E0B"/>
                </a:solidFill>
              </a:rPr>
              <a:t>2. Hold and Wait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19088" y="1920240"/>
            <a:ext cx="246888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9202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🚦 السيارة في التقاطع تنتظر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16568" y="1920240"/>
            <a:ext cx="246888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288" y="19202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⚙️ Process تمسك بمورد وتنتظر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11880"/>
            <a:ext cx="5577840" cy="1920240"/>
          </a:xfrm>
          <a:prstGeom prst="rect">
            <a:avLst/>
          </a:prstGeom>
          <a:solidFill>
            <a:srgbClr val="1E293B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EF4444"/>
                </a:solidFill>
              </a:rPr>
              <a:t>3. No Preemption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14800"/>
            <a:ext cx="246888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🚦 لا يمكن سحب السيارة قسراً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4114800"/>
            <a:ext cx="246888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4114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⚙️ لا يمكن سحب المورد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81928" y="3611880"/>
            <a:ext cx="5577840" cy="1920240"/>
          </a:xfrm>
          <a:prstGeom prst="rect">
            <a:avLst/>
          </a:prstGeom>
          <a:solidFill>
            <a:srgbClr val="1E293B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A78BFA"/>
                </a:solidFill>
              </a:rPr>
              <a:t>4. Circular Wait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9088" y="4114800"/>
            <a:ext cx="246888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4114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🚦 N1→S1→E1→W1→N1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16568" y="4114800"/>
            <a:ext cx="246888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4114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⚙️ حلقة Processes دائرية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715000"/>
            <a:ext cx="11457432" cy="502920"/>
          </a:xfrm>
          <a:prstGeom prst="rect">
            <a:avLst/>
          </a:prstGeom>
          <a:solidFill>
            <a:srgbClr val="2A1E05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76072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⚡ الأربعة شروط متحققة في Gridlock = Deadlock محتم!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6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8368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بيان رسلان · المعهد التقني للحاسوب · جامعة ماري الخاصة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" y="914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10B981"/>
                </a:solidFill>
              </a:rPr>
              <a:t>✅  الحل: Traffic Lights Prevention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5029200" cy="1554480"/>
          </a:xfrm>
          <a:prstGeom prst="rect">
            <a:avLst/>
          </a:prstGeom>
          <a:solidFill>
            <a:srgbClr val="052A1A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0B981"/>
                </a:solidFill>
              </a:rPr>
              <a:t>Phase 1: N/S أخضر (0 – 2.5 ثانية)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09728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819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🟢 North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572768"/>
            <a:ext cx="109728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5819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🟢 South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572768"/>
            <a:ext cx="109728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5819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🔴 East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572768"/>
            <a:ext cx="109728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5819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🔴 West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5029200" cy="1554480"/>
          </a:xfrm>
          <a:prstGeom prst="rect">
            <a:avLst/>
          </a:prstGeom>
          <a:solidFill>
            <a:srgbClr val="052A1A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3464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0B981"/>
                </a:solidFill>
              </a:rPr>
              <a:t>Phase 2: E/W أخضر (2.5 – 5 ثانية)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64408"/>
            <a:ext cx="109728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735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🔴 North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40" y="3264408"/>
            <a:ext cx="109728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32735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</a:rPr>
              <a:t>🔴 South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3264408"/>
            <a:ext cx="109728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32735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🟢 East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3264408"/>
            <a:ext cx="109728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9080" y="32735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🟢 West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34840"/>
            <a:ext cx="5029200" cy="594360"/>
          </a:xfrm>
          <a:prstGeom prst="rect">
            <a:avLst/>
          </a:prstGeom>
          <a:solidFill>
            <a:srgbClr val="05222A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489704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</a:rPr>
              <a:t>🔑 نكسر Circular Wait → لا Gridlock! لا Deadlock!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1051560"/>
            <a:ext cx="6035040" cy="256032"/>
          </a:xfrm>
          <a:prstGeom prst="rect">
            <a:avLst/>
          </a:prstGeom>
          <a:solidFill>
            <a:srgbClr val="161B22"/>
          </a:solidFill>
          <a:ln w="381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59" y="1088136"/>
            <a:ext cx="58521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✅ الكود الصحيح: Deadlock Prevention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1307592"/>
            <a:ext cx="6035040" cy="4453128"/>
          </a:xfrm>
          <a:prstGeom prst="rect">
            <a:avLst/>
          </a:prstGeom>
          <a:solidFill>
            <a:srgbClr val="0D1117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0448" y="1344168"/>
            <a:ext cx="5815583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// ✅ Phase 1: N/S GREEN
tls[0].style.background='#10b981';//North
tls[1].style.background='#10b981';//South
tls[2].style.background='#ef4444';//East RED
tls[3].style.background='#ef4444';//West RED
setTimeout(()=&gt;{
  c1.classList.add('tcar-go-n');
  c2.classList.add('tcar-go-s');
},500);
// ✅ Phase 2: E/W GREEN  (after 2.5s)
setTimeout(()=&gt;{
  tls[2].style.background='#10b981';//East
  tls[3].style.background='#10b981';//West
  tls[0].style.background='#ef4444';//N RED
  tls[1].style.background='#ef4444';//S RED
  c3.classList.add('tcar-go-e');
  c4.classList.add('tcar-go-w');
},3000);
// ✅ 4 مركبات عبرت بنجاح!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5897880"/>
            <a:ext cx="6035040" cy="548640"/>
          </a:xfrm>
          <a:prstGeom prst="rect">
            <a:avLst/>
          </a:prstGeom>
          <a:solidFill>
            <a:srgbClr val="052A1A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0" y="5952744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✅ 4 مركبات عبرت بنجاح! (Prevention مفعل)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6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8368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بيان رسلان · المعهد التقني للحاسوب · جامعة ماري الخاصة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" y="914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22D3EE"/>
                </a:solidFill>
              </a:rPr>
              <a:t>🔄  مقارنة: مع Prevention vs بدون Prevention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5486400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✅ مع Prevention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6792" y="1051560"/>
            <a:ext cx="5486400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0698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❌ بدون Prevention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9436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8013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0s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783080"/>
            <a:ext cx="4754880" cy="41148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7830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1F5F9"/>
                </a:solidFill>
              </a:rPr>
              <a:t>Phase 1: 🟢 N/S | 🔴 E/W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68880"/>
            <a:ext cx="59436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5786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D3EE"/>
                </a:solidFill>
              </a:rPr>
              <a:t>0.5s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560320"/>
            <a:ext cx="4754880" cy="41148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5603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1F5F9"/>
                </a:solidFill>
              </a:rPr>
              <a:t>🚗 North و 🚙 South يتحركان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46120"/>
            <a:ext cx="59436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3558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2.5s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337560"/>
            <a:ext cx="4754880" cy="41148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33756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1F5F9"/>
                </a:solidFill>
              </a:rPr>
              <a:t>Phase 2: 🔴 N/S | 🟢 E/W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59436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133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D3EE"/>
                </a:solidFill>
              </a:rPr>
              <a:t>3s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114800"/>
            <a:ext cx="4754880" cy="41148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11480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1F5F9"/>
                </a:solidFill>
              </a:rPr>
              <a:t>🚕 East و 🚗 West يتحركان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800600"/>
            <a:ext cx="59436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9103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5.5s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4892040"/>
            <a:ext cx="4754880" cy="41148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8920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1F5F9"/>
                </a:solidFill>
              </a:rPr>
              <a:t>✅ 4 مركبات عبرت بنجاح!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36792" y="1691640"/>
            <a:ext cx="594360" cy="594360"/>
          </a:xfrm>
          <a:prstGeom prst="rect">
            <a:avLst/>
          </a:prstGeom>
          <a:solidFill>
            <a:srgbClr val="2A0F0F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8013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</a:rPr>
              <a:t>0s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76872" y="1783080"/>
            <a:ext cx="4754880" cy="411480"/>
          </a:xfrm>
          <a:prstGeom prst="rect">
            <a:avLst/>
          </a:prstGeom>
          <a:solidFill>
            <a:srgbClr val="2A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22592" y="17830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F4444"/>
                </a:solidFill>
              </a:rPr>
              <a:t>🟢🟢🟢🟢 ALL GREEN!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36792" y="2468880"/>
            <a:ext cx="594360" cy="594360"/>
          </a:xfrm>
          <a:prstGeom prst="rect">
            <a:avLst/>
          </a:prstGeom>
          <a:solidFill>
            <a:srgbClr val="2A0F0F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5786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</a:rPr>
              <a:t>0.8s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76872" y="2560320"/>
            <a:ext cx="4754880" cy="411480"/>
          </a:xfrm>
          <a:prstGeom prst="rect">
            <a:avLst/>
          </a:prstGeom>
          <a:solidFill>
            <a:srgbClr val="2A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22592" y="25603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F4444"/>
                </a:solidFill>
              </a:rPr>
              <a:t>💥 تصادم! Gridlock!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76872" y="3337560"/>
            <a:ext cx="4754880" cy="411480"/>
          </a:xfrm>
          <a:prstGeom prst="rect">
            <a:avLst/>
          </a:prstGeom>
          <a:solidFill>
            <a:srgbClr val="2A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22592" y="333756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F4444"/>
                </a:solidFill>
              </a:rPr>
              <a:t>Circular Wait متحقق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76872" y="4114800"/>
            <a:ext cx="4754880" cy="411480"/>
          </a:xfrm>
          <a:prstGeom prst="rect">
            <a:avLst/>
          </a:prstGeom>
          <a:solidFill>
            <a:srgbClr val="2A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22592" y="411480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F4444"/>
                </a:solidFill>
              </a:rPr>
              <a:t>لا أحد يقدر يتحرك!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76872" y="4892040"/>
            <a:ext cx="4754880" cy="411480"/>
          </a:xfrm>
          <a:prstGeom prst="rect">
            <a:avLst/>
          </a:prstGeom>
          <a:solidFill>
            <a:srgbClr val="2A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22592" y="48920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F4444"/>
                </a:solidFill>
              </a:rPr>
              <a:t>🛑 Deadlock محتم!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6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8368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بيان رسلان · المعهد التقني للحاسوب · جامعة ماري الخاصة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" y="914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22D3EE"/>
                </a:solidFill>
              </a:rPr>
              <a:t>🔗  الربط بنظم التشغيل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5303520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881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المرور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051560"/>
            <a:ext cx="5788152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088136"/>
            <a:ext cx="5605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نظم التشغيل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30352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819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🚦 Traffic Light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508760"/>
            <a:ext cx="57881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581912"/>
            <a:ext cx="5605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🔒 Mutex / Semaphore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39112"/>
            <a:ext cx="530352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1226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🚗 Car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039112"/>
            <a:ext cx="5788152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112264"/>
            <a:ext cx="5605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⚙️ Process / Thread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69463"/>
            <a:ext cx="530352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42615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🛣️ Road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569463"/>
            <a:ext cx="57881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642615"/>
            <a:ext cx="5605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💾 Shared Resource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99815"/>
            <a:ext cx="530352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729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💥 Gridlock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099815"/>
            <a:ext cx="5788152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172968"/>
            <a:ext cx="5605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🛑 Deadlock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630168"/>
            <a:ext cx="530352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03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✅ Prevention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630168"/>
            <a:ext cx="57881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703320"/>
            <a:ext cx="5605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🛡️ Resource Ordering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251960"/>
            <a:ext cx="11457432" cy="256032"/>
          </a:xfrm>
          <a:prstGeom prst="rect">
            <a:avLst/>
          </a:prstGeom>
          <a:solidFill>
            <a:srgbClr val="161B22"/>
          </a:solidFill>
          <a:ln w="381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288536"/>
            <a:ext cx="112745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منع Circular Wait بترتيب الموارد — Python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507992"/>
            <a:ext cx="11457432" cy="1709928"/>
          </a:xfrm>
          <a:prstGeom prst="rect">
            <a:avLst/>
          </a:prstGeom>
          <a:solidFill>
            <a:srgbClr val="0D1117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544568"/>
            <a:ext cx="1123797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6EDF3"/>
                </a:solidFill>
              </a:rPr>
              <a:t># ✅ صحيح: ترتيب الموارد R1 &lt; R2 &lt; R3
def process_correct():
    acquire(R1)   # أولاً
    acquire(R2)   # ثانياً
    acquire(R3)   # ثالثاً
    # ... عمل ...
    release(R3); release(R2); release(R1)
# ❌ خاطئ: قد يسبب Deadlock
def process_wrong():
    acquire(R2)   # بدون ترتيب!
    acquire(R1)   # عكس الترتيب!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6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8368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بيان رسلان · المعهد التقني للحاسوب · جامعة ماري الخاصة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" y="914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22D3EE"/>
                </a:solidFill>
              </a:rPr>
              <a:t>📋  الملخص النهائي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557784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EF4444"/>
                </a:solidFill>
              </a:rPr>
              <a:t>❌ بدون Prevention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530352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6479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1F5F9"/>
                </a:solidFill>
              </a:rPr>
              <a:t>جميع الإشارات خضراء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530352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1343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1F5F9"/>
                </a:solidFill>
              </a:rPr>
              <a:t>Gridlock = Deadlock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34639"/>
            <a:ext cx="530352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86207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1F5F9"/>
                </a:solidFill>
              </a:rPr>
              <a:t>4 شروط Coffman 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83279"/>
            <a:ext cx="530352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410711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1F5F9"/>
                </a:solidFill>
              </a:rPr>
              <a:t>تصادم! 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1928" y="1051560"/>
            <a:ext cx="557784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10B981"/>
                </a:solidFill>
              </a:rPr>
              <a:t>✅ مع Prevention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1737360"/>
            <a:ext cx="530352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76479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1F5F9"/>
                </a:solidFill>
              </a:rPr>
              <a:t>تبديل إشارات عادل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19088" y="2286000"/>
            <a:ext cx="530352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31343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1F5F9"/>
                </a:solidFill>
              </a:rPr>
              <a:t>Phase 1: N/S أخضر (2s)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19088" y="2834639"/>
            <a:ext cx="530352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286207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1F5F9"/>
                </a:solidFill>
              </a:rPr>
              <a:t>Phase 2: E/W أخضر (2s)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3383279"/>
            <a:ext cx="530352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410711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1F5F9"/>
                </a:solidFill>
              </a:rPr>
              <a:t>4 مركبات بنجاح! 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6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بيان رسلان · المعهد التقني للحاسوب · جامعة ماري الخاصة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" y="914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